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约55秒：先讲社会痛点，再落到你们的目标用户。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约70秒：强调你们是政策交叉点的融合实践，不是为做AI而做AI。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约55秒：讲“政策要求-产品动作-可验证结果”。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约45秒：强调方法严谨和持续迭代。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约70秒：建议现场配1页图表与1句访谈原话。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约60秒：用二维矩阵展示你们的差异化位置。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约55秒：用单页流程图讲清全链路。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约70秒：建议放3-4张系统界面截图。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约50秒：突出协同机制与性能价值。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约50秒：强调可解释、可验证、可迭代。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约40秒：说明“不是一次体验，而是持续陪伴”。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约40秒：这是评委容易记住的差异化功能。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约70秒：合规是评委非常看重的一页。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约90秒：务必放真实阶段数据，样本数请在图注写清楚。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约60秒：讲路径与价值，不强调细碎定价。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约55秒：体现项目管理能力与交付能力。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约50秒：把问题讲在前面，评委会更放心。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约20秒：收束有力，明确下一步合作诉求。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建议把本页做成附录，不占主讲时间。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墨韵心调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AI驱动的国画多模态情感疗愈平台</a:t>
            </a:r>
          </a:p>
          <a:p>
            <a:r>
              <a:t>三创赛18分钟路演初版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痛点与需求场景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大学生与青年群体情绪压力高，日常可持续调节工具不足</a:t>
            </a:r>
          </a:p>
          <a:p>
            <a:pPr>
              <a:defRPr sz="2400"/>
            </a:pPr>
            <a:r>
              <a:t>传统心理服务专业性强但门槛高、触达频次低</a:t>
            </a:r>
          </a:p>
          <a:p>
            <a:pPr>
              <a:defRPr sz="2400"/>
            </a:pPr>
            <a:r>
              <a:t>现有数字疗愈内容同质化，缺少东方文化与个性化反馈</a:t>
            </a:r>
          </a:p>
          <a:p>
            <a:pPr>
              <a:defRPr sz="2400"/>
            </a:pPr>
            <a:r>
              <a:t>亲子/情侣等关系场景存在沟通需求，但缺少温和表达载体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政策背景：四象限支撑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心理健康主线：健康中国2030、十四五国民健康规划</a:t>
            </a:r>
          </a:p>
          <a:p>
            <a:pPr>
              <a:defRPr sz="2400"/>
            </a:pPr>
            <a:r>
              <a:t>教育主线：学生心理健康专项行动计划（2023-2025）</a:t>
            </a:r>
          </a:p>
          <a:p>
            <a:pPr>
              <a:defRPr sz="2400"/>
            </a:pPr>
            <a:r>
              <a:t>美育文化主线：新时代学校美育意见、十四五文化发展规划</a:t>
            </a:r>
          </a:p>
          <a:p>
            <a:pPr>
              <a:defRPr sz="2400"/>
            </a:pPr>
            <a:r>
              <a:t>技术治理主线：生成式人工智能服务管理暂行办法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政策映射到项目行动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心理健康政策 -&gt; 日常微疗愈入口 + 情绪趋势看板</a:t>
            </a:r>
          </a:p>
          <a:p>
            <a:pPr>
              <a:defRPr sz="2400"/>
            </a:pPr>
            <a:r>
              <a:t>学校育人政策 -&gt; 以美润心的国画交互与课程活动支持</a:t>
            </a:r>
          </a:p>
          <a:p>
            <a:pPr>
              <a:defRPr sz="2400"/>
            </a:pPr>
            <a:r>
              <a:t>文化政策 -&gt; 传统国画数字化表达与创造性转化</a:t>
            </a:r>
          </a:p>
          <a:p>
            <a:pPr>
              <a:defRPr sz="2400"/>
            </a:pPr>
            <a:r>
              <a:t>AI治理政策 -&gt; 最小化采集、内容安全、边界声明与转介机制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调研设计与方法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调研方法：问卷 + 半结构访谈 + 可用性测试</a:t>
            </a:r>
          </a:p>
          <a:p>
            <a:pPr>
              <a:defRPr sz="2400"/>
            </a:pPr>
            <a:r>
              <a:t>调研对象：高校学生、心理教师/辅导员、潜在家庭用户</a:t>
            </a:r>
          </a:p>
          <a:p>
            <a:pPr>
              <a:defRPr sz="2400"/>
            </a:pPr>
            <a:r>
              <a:t>调研目标：验证需求真实度、方案可接受度、合作可行性</a:t>
            </a:r>
          </a:p>
          <a:p>
            <a:pPr>
              <a:defRPr sz="2400"/>
            </a:pPr>
            <a:r>
              <a:t>当前状态：已形成阶段性结论，后续持续扩大样本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调研关键发现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用户愿意尝试低门槛、私密化、艺术化的情绪调节方式</a:t>
            </a:r>
          </a:p>
          <a:p>
            <a:pPr>
              <a:defRPr sz="2400"/>
            </a:pPr>
            <a:r>
              <a:t>个人夜间减压与双人关系沟通是高频高潜场景</a:t>
            </a:r>
          </a:p>
          <a:p>
            <a:pPr>
              <a:defRPr sz="2400"/>
            </a:pPr>
            <a:r>
              <a:t>机构更看重可解释、可管理、可追踪的辅助工具</a:t>
            </a:r>
          </a:p>
          <a:p>
            <a:pPr>
              <a:defRPr sz="2400"/>
            </a:pPr>
            <a:r>
              <a:t>因此项目定位为“个人疗愈 + 关系疗愈”双引擎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竞品对比与机会窗口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冥想APP：轻量但文化差异化与个性化闭环不足</a:t>
            </a:r>
          </a:p>
          <a:p>
            <a:pPr>
              <a:defRPr sz="2400"/>
            </a:pPr>
            <a:r>
              <a:t>心理咨询平台：专业度高但成本高、频次低</a:t>
            </a:r>
          </a:p>
          <a:p>
            <a:pPr>
              <a:defRPr sz="2400"/>
            </a:pPr>
            <a:r>
              <a:t>AI绘画工具：内容生成强但疗愈机制薄弱</a:t>
            </a:r>
          </a:p>
          <a:p>
            <a:pPr>
              <a:defRPr sz="2400"/>
            </a:pPr>
            <a:r>
              <a:t>墨韵心调：文化疗愈内容 + 情感追踪 + 双人共绘关系分析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解决方案总览（闭环）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输入：用户情绪自述与交互行为</a:t>
            </a:r>
          </a:p>
          <a:p>
            <a:pPr>
              <a:defRPr sz="2400"/>
            </a:pPr>
            <a:r>
              <a:t>中枢：智能体协调层进行任务分解、状态管理、反馈优化</a:t>
            </a:r>
          </a:p>
          <a:p>
            <a:pPr>
              <a:defRPr sz="2400"/>
            </a:pPr>
            <a:r>
              <a:t>输出：国画生成 + 音乐匹配 + 情绪建议</a:t>
            </a:r>
          </a:p>
          <a:p>
            <a:pPr>
              <a:defRPr sz="2400"/>
            </a:pPr>
            <a:r>
              <a:t>反馈：情绪看板、周报与关系温度报告驱动持续优化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核心功能演示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个人疗愈流程：对话诊断 -&gt; 国画生成 -&gt; 音乐匹配 -&gt; 情感验证</a:t>
            </a:r>
          </a:p>
          <a:p>
            <a:pPr>
              <a:defRPr sz="2400"/>
            </a:pPr>
            <a:r>
              <a:t>情绪看板：当日变化、周趋势、个性化建议</a:t>
            </a:r>
          </a:p>
          <a:p>
            <a:pPr>
              <a:defRPr sz="2400"/>
            </a:pPr>
            <a:r>
              <a:t>双人共绘：房间协作、实时画布、互动特征记录</a:t>
            </a:r>
          </a:p>
          <a:p>
            <a:pPr>
              <a:defRPr sz="2400"/>
            </a:pPr>
            <a:r>
              <a:t>关系温度报告：主导/跟随/协作模式分析与沟通建议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创新点一：智能体集群协同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情感感知智能体：诊断与趋势追踪</a:t>
            </a:r>
          </a:p>
          <a:p>
            <a:pPr>
              <a:defRPr sz="2400"/>
            </a:pPr>
            <a:r>
              <a:t>艺术生成智能体：国画生成与风格调节</a:t>
            </a:r>
          </a:p>
          <a:p>
            <a:pPr>
              <a:defRPr sz="2400"/>
            </a:pPr>
            <a:r>
              <a:t>音乐匹配智能体：音画同步与氛围营造</a:t>
            </a:r>
          </a:p>
          <a:p>
            <a:pPr>
              <a:defRPr sz="2400"/>
            </a:pPr>
            <a:r>
              <a:t>协调层形成“会诊式协同”，优于简单串行模型调用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创新点二：国画情感量化机制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从6维标签升级到12组“艺术特征-心理指标”关联</a:t>
            </a:r>
          </a:p>
          <a:p>
            <a:pPr>
              <a:defRPr sz="2400"/>
            </a:pPr>
            <a:r>
              <a:t>特征示例：留白比例、笔触力度、构图疏密、墨色层次</a:t>
            </a:r>
          </a:p>
          <a:p>
            <a:pPr>
              <a:defRPr sz="2400"/>
            </a:pPr>
            <a:r>
              <a:t>指标示例：平静度、焦虑度、观看时长与生理信号</a:t>
            </a:r>
          </a:p>
          <a:p>
            <a:pPr>
              <a:defRPr sz="2400"/>
            </a:pPr>
            <a:r>
              <a:t>通过情感验证模块反向调整生成内容，提升匹配度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创新点三：动态情感轨迹追踪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记录多次使用前后状态，形成个人情绪时间序列</a:t>
            </a:r>
          </a:p>
          <a:p>
            <a:pPr>
              <a:defRPr sz="2400"/>
            </a:pPr>
            <a:r>
              <a:t>输出焦虑值/平静值趋势与改善率</a:t>
            </a:r>
          </a:p>
          <a:p>
            <a:pPr>
              <a:defRPr sz="2400"/>
            </a:pPr>
            <a:r>
              <a:t>识别不同干预组合对个体的有效性差异</a:t>
            </a:r>
          </a:p>
          <a:p>
            <a:pPr>
              <a:defRPr sz="2400"/>
            </a:pPr>
            <a:r>
              <a:t>周报给出下一周可执行建议，提升长期留存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创新点四：双人共绘与关系温度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共绘行为数据：笔画顺序、跟随响应、空间分布、覆盖冲突</a:t>
            </a:r>
          </a:p>
          <a:p>
            <a:pPr>
              <a:defRPr sz="2400"/>
            </a:pPr>
            <a:r>
              <a:t>关系温度评分：活跃度、协作度、平衡度综合计算</a:t>
            </a:r>
          </a:p>
          <a:p>
            <a:pPr>
              <a:defRPr sz="2400"/>
            </a:pPr>
            <a:r>
              <a:t>报告输出关系模式标签与沟通建议</a:t>
            </a:r>
          </a:p>
          <a:p>
            <a:pPr>
              <a:defRPr sz="2400"/>
            </a:pPr>
            <a:r>
              <a:t>适配亲子、情侣、朋友等关系修复与沟通场景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技术架构与合规治理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架构：用户层 -&gt; 协调层 -&gt; 智能体层 -&gt; 数据支撑层</a:t>
            </a:r>
          </a:p>
          <a:p>
            <a:pPr>
              <a:defRPr sz="2400"/>
            </a:pPr>
            <a:r>
              <a:t>数据治理：最小化采集、匿名化存储、分级授权访问</a:t>
            </a:r>
          </a:p>
          <a:p>
            <a:pPr>
              <a:defRPr sz="2400"/>
            </a:pPr>
            <a:r>
              <a:t>安全治理：内容审核、日志追踪、提示词防滥用</a:t>
            </a:r>
          </a:p>
          <a:p>
            <a:pPr>
              <a:defRPr sz="2400"/>
            </a:pPr>
            <a:r>
              <a:t>应用边界：非医疗诊断，高风险情绪场景提供人工转介提示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实验验证与阶段性结果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可用性指标：任务完成率、平均流程时长、满意度</a:t>
            </a:r>
          </a:p>
          <a:p>
            <a:pPr>
              <a:defRPr sz="2400"/>
            </a:pPr>
            <a:r>
              <a:t>效果指标：焦虑值下降幅度、平静值提升幅度</a:t>
            </a:r>
          </a:p>
          <a:p>
            <a:pPr>
              <a:defRPr sz="2400"/>
            </a:pPr>
            <a:r>
              <a:t>粘性指标：7日复访率、单次停留时长</a:t>
            </a:r>
          </a:p>
          <a:p>
            <a:pPr>
              <a:defRPr sz="2400"/>
            </a:pPr>
            <a:r>
              <a:t>关系指标：共绘完成率、报告查看率、沟通改善主观评分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商业模式与推广路径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C端：校园与青年群体的低门槛普惠服务</a:t>
            </a:r>
          </a:p>
          <a:p>
            <a:pPr>
              <a:defRPr sz="2400"/>
            </a:pPr>
            <a:r>
              <a:t>B端：学校心理中心/机构版数据看板与团体分析</a:t>
            </a:r>
          </a:p>
          <a:p>
            <a:pPr>
              <a:defRPr sz="2400"/>
            </a:pPr>
            <a:r>
              <a:t>推广路径：校内试点 -&gt; 跨校复制 -&gt; 区域机构合作</a:t>
            </a:r>
          </a:p>
          <a:p>
            <a:pPr>
              <a:defRPr sz="2400"/>
            </a:pPr>
            <a:r>
              <a:t>价值主张：降低心理服务触达门槛，提升文化认同与参与度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里程碑、预算与成果产出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阶段里程碑：数据准备 -&gt; 协同联调 -&gt; 共绘上线 -&gt; 校内试点</a:t>
            </a:r>
          </a:p>
          <a:p>
            <a:pPr>
              <a:defRPr sz="2400"/>
            </a:pPr>
            <a:r>
              <a:t>预算方向：研发、测试与活动、算力与运维</a:t>
            </a:r>
          </a:p>
          <a:p>
            <a:pPr>
              <a:defRPr sz="2400"/>
            </a:pPr>
            <a:r>
              <a:t>成果目标：软著/论文/案例/展示课程等</a:t>
            </a:r>
          </a:p>
          <a:p>
            <a:pPr>
              <a:defRPr sz="2400"/>
            </a:pPr>
            <a:r>
              <a:t>持续目标：形成“技术+场景+数据”可复制的示范样板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团队与风险应对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团队结构：技术、产品、心理、艺术四类能力互补</a:t>
            </a:r>
          </a:p>
          <a:p>
            <a:pPr>
              <a:defRPr sz="2400"/>
            </a:pPr>
            <a:r>
              <a:t>风险一：数据隐私 -&gt; 去标识化 + 权限审计</a:t>
            </a:r>
          </a:p>
          <a:p>
            <a:pPr>
              <a:defRPr sz="2400"/>
            </a:pPr>
            <a:r>
              <a:t>风险二：模型偏差 -&gt; 人工校验 + 反馈迭代</a:t>
            </a:r>
          </a:p>
          <a:p>
            <a:pPr>
              <a:defRPr sz="2400"/>
            </a:pPr>
            <a:r>
              <a:t>风险三：落地阻力 -&gt; 小规模试点 + 标准化复制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总结与合作诉求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我们在做“心理健康 + 传统文化 + AI治理”融合创新</a:t>
            </a:r>
          </a:p>
          <a:p>
            <a:pPr>
              <a:defRPr sz="2400"/>
            </a:pPr>
            <a:r>
              <a:t>已形成可验证的产品闭环与试点路径</a:t>
            </a:r>
          </a:p>
          <a:p>
            <a:pPr>
              <a:defRPr sz="2400"/>
            </a:pPr>
            <a:r>
              <a:t>期待获得试点学校、专家评估与跨学科合作资源</a:t>
            </a:r>
          </a:p>
          <a:p>
            <a:pPr>
              <a:defRPr sz="2400"/>
            </a:pPr>
            <a:r>
              <a:t>感谢各位评委指导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附录：政策参考链接（建议放二维码）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健康中国2030（卫健委）：https://www.nhc.gov.cn/mohwsbwstjxxzx/s2908/201610/bf343fa47c7a4438916f77160f54336c.shtml</a:t>
            </a:r>
          </a:p>
          <a:p>
            <a:pPr>
              <a:defRPr sz="2400"/>
            </a:pPr>
            <a:r>
              <a:t>十四五国民健康规划（gov.cn）：https://www.gov.cn/zhengce/content/2022-05/20/content_5691424.htm</a:t>
            </a:r>
          </a:p>
          <a:p>
            <a:pPr>
              <a:defRPr sz="2400"/>
            </a:pPr>
            <a:r>
              <a:t>学生心理健康专项行动计划（教育部）：https://www.moe.gov.cn/srcsite/A17/moe_943/moe_946/202305/t20230511_1059219.html</a:t>
            </a:r>
          </a:p>
          <a:p>
            <a:pPr>
              <a:defRPr sz="2400"/>
            </a:pPr>
            <a:r>
              <a:t>学校美育政策解读（gov.cn）：https://www.gov.cn/zhengce/2020-10/16/content_5551794.htm</a:t>
            </a:r>
          </a:p>
          <a:p>
            <a:pPr>
              <a:defRPr sz="2400"/>
            </a:pPr>
            <a:r>
              <a:t>十四五文化发展规划（商务部转载）：https://www.mofcom.gov.cn/zcfb/zgdwjjmywg/art/2023/art_1178a67fc52d4cdfa6d668eb54ecad43.html</a:t>
            </a:r>
          </a:p>
          <a:p>
            <a:pPr>
              <a:defRPr sz="2400"/>
            </a:pPr>
            <a:r>
              <a:t>生成式AI暂行办法（gov.cn）：https://www.gov.cn/zhengce/zhengceku/202307/content_6891752.htm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